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11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SECURE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090672"/>
            <a:ext cx="28346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End-to-End Encrypted Messaging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6B6D4"/>
                </a:solidFill>
              </a:rPr>
              <a:t>Redefining Digital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PRESENTED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737360"/>
            <a:ext cx="5760720" cy="36576"/>
          </a:xfrm>
          <a:prstGeom prst="rect">
            <a:avLst/>
          </a:prstGeom>
          <a:solidFill>
            <a:srgbClr val="1E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✦  Ilyas Boufelss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✦  Youssef Alaoui Hichami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926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✦  Achraf Amarifi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566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SUPERVISED BY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931920"/>
            <a:ext cx="5760720" cy="36576"/>
          </a:xfrm>
          <a:prstGeom prst="rect">
            <a:avLst/>
          </a:prstGeom>
          <a:solidFill>
            <a:srgbClr val="1E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4023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Mr. Zineddine Mhamed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The Privacy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Why standard messaging fails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486400" cy="201168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486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⚠️ Server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Servers can read plaintext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0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Ads, analytics, and content scanning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5486400" cy="201168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828800"/>
            <a:ext cx="5486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💥 Data Breaches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23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Centralised storage = single point of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70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Millions of chats exposed when hacked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5486400" cy="201168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5486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🕵️ Surveillance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Governments can request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56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Backdoors built into many apps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114800"/>
            <a:ext cx="5486400" cy="201168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114800"/>
            <a:ext cx="5486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251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🔓 Trust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09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Users must trust companies blindly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056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No way to verify privacy claims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The Secure Chat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The Blind Relay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11247120" cy="45720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BLIND RELAY CONCEPT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286000"/>
            <a:ext cx="2194560" cy="1005840"/>
          </a:xfrm>
          <a:prstGeom prst="rect">
            <a:avLst/>
          </a:prstGeom>
          <a:solidFill>
            <a:srgbClr val="1A1F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2331720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Alice's Browser
🔑 Private Key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Encrypts with
Bob's Public 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286000"/>
            <a:ext cx="2194560" cy="1005840"/>
          </a:xfrm>
          <a:prstGeom prst="rect">
            <a:avLst/>
          </a:prstGeom>
          <a:solidFill>
            <a:srgbClr val="1E253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02352" y="2331720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Python Server
🚫 No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Sees only 🔒 ciphertext
Cannot decrypt!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286000"/>
            <a:ext cx="2194560" cy="1005840"/>
          </a:xfrm>
          <a:prstGeom prst="rect">
            <a:avLst/>
          </a:prstGeom>
          <a:solidFill>
            <a:srgbClr val="1A1F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42832" y="2331720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Bob's Browser
🔑 Private Key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Decrypts with
his Private Key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83280" y="2788920"/>
            <a:ext cx="16459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23760" y="2788920"/>
            <a:ext cx="16459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2044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🔒 Encrypted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🔒 Encrypted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51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🔐 Zero Knowledge — Server cannot decrypt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🛡️ Client-Side Keys — Never sent to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📡 Real-Time — Instant message relay via WebSockets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251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🔑 ECDH — Shared secret without sharing the secret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🔒 AES-GCM-256 — Military-grade message encryption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✅ Data Sovereignty — You own your keys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Modern tools for maximum privacy and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2743200" cy="4754880"/>
          </a:xfrm>
          <a:prstGeom prst="rect">
            <a:avLst/>
          </a:prstGeom>
          <a:solidFill>
            <a:srgbClr val="1A1F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274320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7556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🐍  Python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websockets — Real-time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asyncio — Handles 1000s of connections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bcrypt — Secure password hashing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891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hmac + hashlib — Token signing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691640"/>
            <a:ext cx="2743200" cy="4754880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1691640"/>
            <a:ext cx="274320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55848" y="17556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JavaScript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317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Web Crypto API — Browser-native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175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Vanilla JS — No framework overhead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7033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WebSocket client — Live messaging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3891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Modern CSS3 — Premium dark 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91640"/>
            <a:ext cx="2743200" cy="4754880"/>
          </a:xfrm>
          <a:prstGeom prst="rect">
            <a:avLst/>
          </a:prstGeom>
          <a:solidFill>
            <a:srgbClr val="1A1F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1691640"/>
            <a:ext cx="274320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17556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Security Protocols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317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ECDH P-256 — Key exchange algorithm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0175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AES-GCM-256 — Message encryption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7033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HKDF-SHA256 — Key derivation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3891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HMAC-SHA256 — Session tokens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1691640"/>
            <a:ext cx="2743200" cy="4754880"/>
          </a:xfrm>
          <a:prstGeom prst="rect">
            <a:avLst/>
          </a:prstGeom>
          <a:solidFill>
            <a:srgbClr val="1A1F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1691640"/>
            <a:ext cx="27432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16568" y="17556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📁  Project 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3317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server.py — WebSocket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0175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crypto.js — Encryption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7033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app.js — Frontend logic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3891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index.html / style.css —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Full-stack overview of the Secure Chat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11430000" cy="4846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3200400" cy="4389120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320040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8745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🌐 CLIENT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ECDH Key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AES-GCM Encryption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WebSocket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Dark Mode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828800"/>
            <a:ext cx="3200400" cy="4389120"/>
          </a:xfrm>
          <a:prstGeom prst="rect">
            <a:avLst/>
          </a:prstGeom>
          <a:solidFill>
            <a:srgbClr val="1A1F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1828800"/>
            <a:ext cx="320040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18745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PYTHON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2860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WebSocket Handler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51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HTTP Auth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0175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HMAC Token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832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Blind Message Relay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828800"/>
            <a:ext cx="3200400" cy="4389120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12480" y="1828800"/>
            <a:ext cx="320040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18745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🌐 CLIENT 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2860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ECDH Key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651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AES-GCM Decryption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0175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WebSocket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3832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Real-time UI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49039" y="3108960"/>
            <a:ext cx="731521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80960" y="3108960"/>
            <a:ext cx="7315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75887" y="28346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B6D4"/>
                </a:solidFill>
              </a:rPr>
              <a:t>WS +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28346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B6D4"/>
                </a:solidFill>
              </a:rPr>
              <a:t>WS Relay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3000 (HTTP)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3001 (WebSocket)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Deep Dive: server.py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The Python nerve center — blind by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530352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HOW IT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1214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Client connects via WebSocket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77977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First message must be an auth token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4381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Server verifies HMAC-SHA256 token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78224"/>
            <a:ext cx="384048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0782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0965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On success, user is registered online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54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Messages relayed as-is (encrypted)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4132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On disconnect, presence updated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691640"/>
            <a:ext cx="2743200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169164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08192" y="1801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🔄 Async I/O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2240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asyncio handles thousands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2624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of connections concurrently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1691640"/>
            <a:ext cx="2743200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869680" y="169164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34272" y="1801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🔐 Blind Relay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2240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Never decrypts payloads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34272" y="2624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Passes ciphertext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023360"/>
            <a:ext cx="2743200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43600" y="402336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08192" y="41330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👥 Presence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08192" y="4572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Tracks online users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4956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Broadcasts user list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4023360"/>
            <a:ext cx="2743200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869680" y="402336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34272" y="41330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🔑 Auth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4572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Bcrypt password 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34272" y="4956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HMAC token issuance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Security Engine: crypto.js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All encryption happens inside the browser — never on the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11430000" cy="4846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2148840" cy="4114800"/>
          </a:xfrm>
          <a:prstGeom prst="rect">
            <a:avLst/>
          </a:prstGeom>
          <a:solidFill>
            <a:srgbClr val="1A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1920240"/>
            <a:ext cx="214884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47672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Generate ECDH Key 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Browser creates a P-256 public/private key pair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1920240"/>
            <a:ext cx="2148840" cy="411480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71800" y="1920240"/>
            <a:ext cx="214884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63240" y="1947672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Export Public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971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Public key exported as JWK and sent to server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1920240"/>
            <a:ext cx="2148840" cy="4114800"/>
          </a:xfrm>
          <a:prstGeom prst="rect">
            <a:avLst/>
          </a:prstGeom>
          <a:solidFill>
            <a:srgbClr val="1A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94960" y="1920240"/>
            <a:ext cx="214884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1947672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Receive Peer's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971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Server relays peer's public key (still blind)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1920240"/>
            <a:ext cx="2148840" cy="4114800"/>
          </a:xfrm>
          <a:prstGeom prst="rect">
            <a:avLst/>
          </a:prstGeom>
          <a:solidFill>
            <a:srgbClr val="1A1F35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18120" y="1920240"/>
            <a:ext cx="21488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9560" y="1947672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Derive Shared Secret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971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ECDH derives a shared secret via HKDF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1920240"/>
            <a:ext cx="2148840" cy="4114800"/>
          </a:xfrm>
          <a:prstGeom prst="rect">
            <a:avLst/>
          </a:prstGeom>
          <a:solidFill>
            <a:srgbClr val="1A1F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41280" y="1920240"/>
            <a:ext cx="2148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20" y="1947672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Encrypt / Decrypt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2971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AES-GCM-256 encrypts/decrypts messages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697480" y="3977639"/>
            <a:ext cx="2743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0" y="3977639"/>
            <a:ext cx="2743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43800" y="3977639"/>
            <a:ext cx="2743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966960" y="3977639"/>
            <a:ext cx="2743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2C55E"/>
                </a:solidFill>
              </a:rPr>
              <a:t>🔒  Private keys are NEVER exported or sent anywhere — they remain locked in the browser's memory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Frontend Craftsmanship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A premium, real-time chat interface built with Vanilla 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5577840" cy="2240280"/>
          </a:xfrm>
          <a:prstGeom prst="rect">
            <a:avLst/>
          </a:prstGeom>
          <a:solidFill>
            <a:srgbClr val="1A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5577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7556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🎨 Design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Deep blue dark 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578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Glassmorphism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9626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CSS custom 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Inter font family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5577840" cy="224028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1645920"/>
            <a:ext cx="55778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17556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Real-time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WebSocket live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578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Typing indicators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9626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Delivery confirmations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3467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Toast notifications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14800"/>
            <a:ext cx="5577840" cy="2240280"/>
          </a:xfrm>
          <a:prstGeom prst="rect">
            <a:avLst/>
          </a:prstGeom>
          <a:solidFill>
            <a:srgbClr val="1A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114800"/>
            <a:ext cx="5577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422452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🔐 Security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E2EE badge in header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0474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Key exchange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4315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Secure session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58155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Error handling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114800"/>
            <a:ext cx="5577840" cy="2240280"/>
          </a:xfrm>
          <a:prstGeom prst="rect">
            <a:avLst/>
          </a:prstGeom>
          <a:solidFill>
            <a:srgbClr val="1A1F35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114800"/>
            <a:ext cx="5577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422452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📱 Responsive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Mobile-first layout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50474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Sidebar collapses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4315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Touch-friendly inputs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58155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Smooth animations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Authentication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Secure entry — Bcrypt passwords + HMAC session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👤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2011680"/>
            <a:ext cx="36576" cy="4114800"/>
          </a:xfrm>
          <a:prstGeom prst="rect">
            <a:avLst/>
          </a:prstGeom>
          <a:solidFill>
            <a:srgbClr val="1E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🌐 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2011680"/>
            <a:ext cx="36576" cy="4114800"/>
          </a:xfrm>
          <a:prstGeom prst="rect">
            <a:avLst/>
          </a:prstGeom>
          <a:solidFill>
            <a:srgbClr val="1E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⚡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2011680"/>
            <a:ext cx="36576" cy="4114800"/>
          </a:xfrm>
          <a:prstGeom prst="rect">
            <a:avLst/>
          </a:prstGeom>
          <a:solidFill>
            <a:srgbClr val="1E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2194560"/>
            <a:ext cx="1188720" cy="438912"/>
          </a:xfrm>
          <a:prstGeom prst="rect">
            <a:avLst/>
          </a:prstGeom>
          <a:solidFill>
            <a:srgbClr val="1A1F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11096" y="211226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Enter username
&amp; password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834640"/>
            <a:ext cx="4389120" cy="438912"/>
          </a:xfrm>
          <a:prstGeom prst="rect">
            <a:avLst/>
          </a:prstGeom>
          <a:solidFill>
            <a:srgbClr val="1A1F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39312" y="2907792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 /api/login  →  {username, password}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3474720"/>
            <a:ext cx="2286000" cy="438912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59952" y="3547872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bcrypt.checkpw()
verify hash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4206240"/>
            <a:ext cx="2286000" cy="438912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59952" y="4279392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hmac.new() →
generate 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4846320"/>
            <a:ext cx="4389120" cy="438912"/>
          </a:xfrm>
          <a:prstGeom prst="rect">
            <a:avLst/>
          </a:prstGeom>
          <a:solidFill>
            <a:srgbClr val="1A1F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39312" y="4919472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←  {token, username}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5486400"/>
            <a:ext cx="1188720" cy="438912"/>
          </a:xfrm>
          <a:prstGeom prst="rect">
            <a:avLst/>
          </a:prstGeom>
          <a:solidFill>
            <a:srgbClr val="1A1F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75424" y="5498984"/>
            <a:ext cx="113385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Store token
in </a:t>
            </a:r>
            <a:r>
              <a:rPr sz="1100" b="1" i="0" dirty="0" err="1">
                <a:solidFill>
                  <a:srgbClr val="FFFFFF"/>
                </a:solidFill>
              </a:rPr>
              <a:t>sessionStorage</a:t>
            </a:r>
            <a:endParaRPr sz="1100" b="1" i="0" dirty="0">
              <a:solidFill>
                <a:srgbClr val="FFFFFF"/>
              </a:solidFill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3108960" y="2423160"/>
            <a:ext cx="457200" cy="64008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955279" y="3063240"/>
            <a:ext cx="731521" cy="64008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55279" y="4425696"/>
            <a:ext cx="731521" cy="649224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108960" y="5074920"/>
            <a:ext cx="457200" cy="64008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9E0B"/>
                </a:solidFill>
              </a:rPr>
              <a:t>🔑 Token verified on EVERY WebSocket connection — stateless, fast, secure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Key Exchange: ECDH P-256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Two strangers establish a shared secret without ever sending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2011680" cy="4846320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</a:rPr>
              <a:t>ALICE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600200"/>
            <a:ext cx="2011680" cy="4846320"/>
          </a:xfrm>
          <a:prstGeom prst="rect">
            <a:avLst/>
          </a:prstGeom>
          <a:solidFill>
            <a:srgbClr val="1A1F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1600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BOB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600200"/>
            <a:ext cx="3017520" cy="4846320"/>
          </a:xfrm>
          <a:prstGeom prst="rect">
            <a:avLst/>
          </a:prstGeom>
          <a:solidFill>
            <a:srgbClr val="1E25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</a:rPr>
              <a:t>🚫  SERVER  (BLIND)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1945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1. Gen P-256 key pair
   pub_A, priv_A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089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3. Receive pub_B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233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4. ECDH(priv_A, pub_B)
   → shared_secret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377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5. HKDF → AES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1945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2. Gen P-256 key pair
   pub_B, priv_B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1089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3. Receive pub_A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40233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4. ECDH(priv_B, pub_A)
   → shared_secret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49377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5. HKDF → AES key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68880" y="2377440"/>
            <a:ext cx="21031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572000" y="2834640"/>
            <a:ext cx="30175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468880" y="3246120"/>
            <a:ext cx="210312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89520" y="2377440"/>
            <a:ext cx="20116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pub_A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pub_A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← pub_B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← pub_B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8523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 dirty="0">
                <a:solidFill>
                  <a:srgbClr val="22C55E"/>
                </a:solidFill>
              </a:rPr>
              <a:t>✅ Both arrive at the SAME AES key — the server never sees the private keys or the shared secret!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E2EE in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The complete journey of a message — from text to ciphertext and 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011680" cy="1371600"/>
          </a:xfrm>
          <a:prstGeom prst="rect">
            <a:avLst/>
          </a:prstGeom>
          <a:solidFill>
            <a:srgbClr val="1A1F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📝 Plaintext
"Hello Bob!"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286000"/>
            <a:ext cx="2011680" cy="1371600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24231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</a:rPr>
              <a:t>🔒 AES-GCM
Encrypt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286000"/>
            <a:ext cx="2011680" cy="1371600"/>
          </a:xfrm>
          <a:prstGeom prst="rect">
            <a:avLst/>
          </a:prstGeom>
          <a:solidFill>
            <a:srgbClr val="1A1F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24231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📦 Ciphertext
Base64 payload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2286000"/>
            <a:ext cx="2011680" cy="1371600"/>
          </a:xfrm>
          <a:prstGeom prst="rect">
            <a:avLst/>
          </a:prstGeom>
          <a:solidFill>
            <a:srgbClr val="1E25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19" y="24231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</a:rPr>
              <a:t>🚀 Server
Blind Relay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2286000"/>
            <a:ext cx="2011680" cy="1371600"/>
          </a:xfrm>
          <a:prstGeom prst="rect">
            <a:avLst/>
          </a:prstGeom>
          <a:solidFill>
            <a:srgbClr val="1A1F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12680" y="24231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📦 Ciphertext
Received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2971800"/>
            <a:ext cx="4114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09160" y="2971800"/>
            <a:ext cx="4114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132320" y="2971800"/>
            <a:ext cx="4114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55480" y="2971800"/>
            <a:ext cx="4114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921240" y="4023360"/>
            <a:ext cx="2011680" cy="1371600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2680" y="4160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</a:rPr>
              <a:t>🔓 AES-GCM
Decrypt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927080" y="3657600"/>
            <a:ext cx="0" cy="36576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921240" y="5669280"/>
            <a:ext cx="2011680" cy="914400"/>
          </a:xfrm>
          <a:prstGeom prst="rect">
            <a:avLst/>
          </a:prstGeom>
          <a:solidFill>
            <a:srgbClr val="1A1F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12680" y="57150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📝 Plaintext
"Hello Bob!"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927080" y="5394960"/>
            <a:ext cx="0" cy="27432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97480" y="1691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366F1"/>
                </a:solidFill>
              </a:rPr>
              <a:t>🔑 AES Key (Shared Secret)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474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366F1"/>
                </a:solidFill>
              </a:rPr>
              <a:t>🔑 AES Key (Shared Secret)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8463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F4444"/>
                </a:solidFill>
              </a:rPr>
              <a:t>🚫 Server sees: 'x7aB2+mK...'
     Cannot decrypt!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Real-time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Beyond encryption — a living, reactive chat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3749039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3749039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75564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🟢 User Presence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1945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Server tracks who is 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57860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User list broadcast to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96265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Instant connect / disconnect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399" y="1645920"/>
            <a:ext cx="3749039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399" y="1645920"/>
            <a:ext cx="3749039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1" y="175564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⌨️ Typing Indicators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1" y="21945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Sends 'typing' event via WebSocket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1" y="257860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Animated dot indicator in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1" y="296265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Auto-hides when user stops typing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38" y="1645920"/>
            <a:ext cx="3749039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21038" y="1645920"/>
            <a:ext cx="3749039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85630" y="175564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Delivery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0" y="21945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Server confirms message relay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0" y="257860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'message-sent' event returned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0" y="296265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UI shows delivery confirmation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77640"/>
            <a:ext cx="3749039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977640"/>
            <a:ext cx="3749039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0873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🔔 Toast 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5262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New message alerts from any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91032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Non-intrusive popup in corner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529437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Click to jump to conversation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399" y="3977640"/>
            <a:ext cx="3749039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43399" y="397764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07991" y="40873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⏱️ Timestamps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1" y="45262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Every message has a timestamp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1" y="491032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Human-readable format in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1" y="529437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Server syncs time reference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38" y="3977640"/>
            <a:ext cx="3749039" cy="2103120"/>
          </a:xfrm>
          <a:prstGeom prst="rect">
            <a:avLst/>
          </a:prstGeom>
          <a:solidFill>
            <a:srgbClr val="1A1F35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21038" y="3977640"/>
            <a:ext cx="374903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85630" y="40873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🔄 Session Recovery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5630" y="45262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Token stored in sessionStorage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0" y="491032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Auto-reconnect on refresh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0" y="529437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State preserved between tabs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Data Sovereignty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You own your data — mathematically guaranteed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11430000" cy="4937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2377440" cy="4206240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920240"/>
            <a:ext cx="237744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38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Zero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089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The server never has your
private key at any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920240"/>
            <a:ext cx="2377440" cy="4206240"/>
          </a:xfrm>
          <a:prstGeom prst="rect">
            <a:avLst/>
          </a:prstGeom>
          <a:solidFill>
            <a:srgbClr val="1A1F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91840" y="1920240"/>
            <a:ext cx="237744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1938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514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Ciphertext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1089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Server stores &amp; relays only
Base64 encrypted blobs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920240"/>
            <a:ext cx="2377440" cy="4206240"/>
          </a:xfrm>
          <a:prstGeom prst="rect">
            <a:avLst/>
          </a:prstGeom>
          <a:solidFill>
            <a:srgbClr val="1A1F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1920240"/>
            <a:ext cx="237744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0" y="1938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514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1089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No plaintext is ever
persisted on disk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1920240"/>
            <a:ext cx="2377440" cy="4206240"/>
          </a:xfrm>
          <a:prstGeom prst="rect">
            <a:avLst/>
          </a:prstGeom>
          <a:solidFill>
            <a:srgbClr val="1A1F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95360" y="1920240"/>
            <a:ext cx="237744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0" y="1938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514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Math Proves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1089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AES-GCM is authenticated
encryption — tamper-proof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12" y="61447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6B6D4"/>
                </a:solidFill>
              </a:rPr>
              <a:t>"If the server is hacked, your messages remain completely unreadable."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Security 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Industry-standard cryptography — no shortcuts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2194560" cy="685800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824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ECDH P-256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933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Key Exchange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Elliptic Curve Diffie-Hellman on the NIST P-256 curve. Used by TLS, Signal, and WhatsApp.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828800"/>
            <a:ext cx="18288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450592"/>
            <a:ext cx="2194560" cy="685800"/>
          </a:xfrm>
          <a:prstGeom prst="rect">
            <a:avLst/>
          </a:prstGeom>
          <a:solidFill>
            <a:srgbClr val="1A1F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487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AES-GCM-256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980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542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256-bit Galois/Counter Mode. Authenticated encryption that detects tampering. NIST approved.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633472"/>
            <a:ext cx="182880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255264"/>
            <a:ext cx="2194560" cy="685800"/>
          </a:xfrm>
          <a:prstGeom prst="rect">
            <a:avLst/>
          </a:prstGeom>
          <a:solidFill>
            <a:srgbClr val="1A1F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HKDF-SHA256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027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Key Derivation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3467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Hash-based Key Derivation Function. Stretches ECDH shared bits into a proper AES key.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3438144"/>
            <a:ext cx="18288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059936"/>
            <a:ext cx="2194560" cy="685800"/>
          </a:xfrm>
          <a:prstGeom prst="rect">
            <a:avLst/>
          </a:prstGeom>
          <a:solidFill>
            <a:srgbClr val="1A1F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0965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HMAC-SHA256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074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5137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Hash-based Message Auth Code. Signs session tokens — server verifies identity without passwords.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242816"/>
            <a:ext cx="18288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864608"/>
            <a:ext cx="2194560" cy="685800"/>
          </a:xfrm>
          <a:prstGeom prst="rect">
            <a:avLst/>
          </a:prstGeom>
          <a:solidFill>
            <a:srgbClr val="1A1F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9011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Bcrypt (r=12)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12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Password Hash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956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Adaptive cost function. 12 rounds means ~250ms per hash — brute-force resistant.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5047488"/>
            <a:ext cx="1828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669280"/>
            <a:ext cx="2194560" cy="685800"/>
          </a:xfrm>
          <a:prstGeom prst="rect">
            <a:avLst/>
          </a:prstGeom>
          <a:solidFill>
            <a:srgbClr val="1A1F3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7058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WebSocket WSS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167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Transport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Secure WebSocket protocol. TLS in transit — protects even the encrypted ciphertext metadata.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40" y="5852160"/>
            <a:ext cx="18288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A clean, minimal codebase — every file has a clear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3749039" cy="2148840"/>
          </a:xfrm>
          <a:prstGeom prst="rect">
            <a:avLst/>
          </a:prstGeom>
          <a:solidFill>
            <a:srgbClr val="1A1F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3749039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7007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📄 server.py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173736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13,919 bytes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WebSocket server &amp; HTTP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70048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Token auth, user presence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45536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Blind message relay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399" y="1645920"/>
            <a:ext cx="3749039" cy="2148840"/>
          </a:xfrm>
          <a:prstGeom prst="rect">
            <a:avLst/>
          </a:prstGeom>
          <a:solidFill>
            <a:srgbClr val="1A1F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399" y="1645920"/>
            <a:ext cx="3749039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59" y="17007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🔐 crypto.js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38" y="173736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5,784 bytes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19456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ECDH key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2670048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AES-GCM encrypt/decrypt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145536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HKDF key derivation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38" y="1645920"/>
            <a:ext cx="3749039" cy="2148840"/>
          </a:xfrm>
          <a:prstGeom prst="rect">
            <a:avLst/>
          </a:prstGeom>
          <a:solidFill>
            <a:srgbClr val="1A1F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38" y="1645920"/>
            <a:ext cx="3749039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198" y="17007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app.js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77" y="173736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22,109 bytes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8" y="219456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WebSocket client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8" y="2670048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UI state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8" y="3145536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Real-time event handling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23360"/>
            <a:ext cx="3749039" cy="2148840"/>
          </a:xfrm>
          <a:prstGeom prst="rect">
            <a:avLst/>
          </a:prstGeom>
          <a:solidFill>
            <a:srgbClr val="1A1F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4023360"/>
            <a:ext cx="3749039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078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🎨 style.css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199" y="41148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17,393 bytes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Full design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047488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Animations &amp; transitions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522976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Responsive breakpoints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399" y="4023360"/>
            <a:ext cx="3749039" cy="2148840"/>
          </a:xfrm>
          <a:prstGeom prst="rect">
            <a:avLst/>
          </a:prstGeom>
          <a:solidFill>
            <a:srgbClr val="1A1F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43399" y="4023360"/>
            <a:ext cx="3749039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59" y="4078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🌐 index.html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38" y="41148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7,652 bytes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59" y="457200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App structure &amp; layout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59" y="5047488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Auth &amp; chat screens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59" y="5522976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Component scaffolding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38" y="4023360"/>
            <a:ext cx="3749039" cy="2148840"/>
          </a:xfrm>
          <a:prstGeom prst="rect">
            <a:avLst/>
          </a:prstGeom>
          <a:solidFill>
            <a:srgbClr val="1A1F35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321038" y="4023360"/>
            <a:ext cx="3749039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58198" y="4078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📦 package.json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77" y="41148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387 bytes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198" y="457200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Project metadata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198" y="5047488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Dependency manifest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Secure Chat v2.0 — expanding privacy to new frontiers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3192" y="2257061"/>
            <a:ext cx="1371600" cy="777240"/>
          </a:xfrm>
          <a:prstGeom prst="rect">
            <a:avLst/>
          </a:prstGeom>
          <a:solidFill>
            <a:srgbClr val="1A1F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" y="2394221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6B6D4"/>
                </a:solidFill>
              </a:rPr>
              <a:t>Q1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64792" y="2622821"/>
            <a:ext cx="5029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21992" y="2257061"/>
            <a:ext cx="9418320" cy="777240"/>
          </a:xfrm>
          <a:prstGeom prst="rect">
            <a:avLst/>
          </a:prstGeom>
          <a:solidFill>
            <a:srgbClr val="1A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59152" y="233021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Mobile Apps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2330213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React Native clients for iOS and Android. Same cryptographic engine, native performance.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72184" y="3034301"/>
            <a:ext cx="36576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93192" y="3217181"/>
            <a:ext cx="1371600" cy="777240"/>
          </a:xfrm>
          <a:prstGeom prst="rect">
            <a:avLst/>
          </a:prstGeom>
          <a:solidFill>
            <a:srgbClr val="1A1F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3192" y="3354341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2C55E"/>
                </a:solidFill>
              </a:rPr>
              <a:t>Q2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64792" y="3582941"/>
            <a:ext cx="502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21992" y="3217181"/>
            <a:ext cx="9418320" cy="777240"/>
          </a:xfrm>
          <a:prstGeom prst="rect">
            <a:avLst/>
          </a:prstGeom>
          <a:solidFill>
            <a:srgbClr val="1A1F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9152" y="329033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3290333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Privacy-first on-device AI. Local inference — your assistant never talks to a third-party cloud.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72184" y="3994421"/>
            <a:ext cx="36576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93192" y="4177301"/>
            <a:ext cx="1371600" cy="777240"/>
          </a:xfrm>
          <a:prstGeom prst="rect">
            <a:avLst/>
          </a:prstGeom>
          <a:solidFill>
            <a:srgbClr val="1A1F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" y="4314461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59E0B"/>
                </a:solidFill>
              </a:rPr>
              <a:t>Q3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64792" y="4543061"/>
            <a:ext cx="502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21992" y="4177301"/>
            <a:ext cx="9418320" cy="777240"/>
          </a:xfrm>
          <a:prstGeom prst="rect">
            <a:avLst/>
          </a:prstGeom>
          <a:solidFill>
            <a:srgbClr val="1A1F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59152" y="425045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Self-Hosting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0872" y="4250453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One-command Docker deployment. Deploy your own private Secure Chat instance anywhere.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23192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30584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7976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5368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52760" y="914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What we built — and 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1143000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True E2EE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Messages are mathematically unreadable to anyone but sender and receiver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Lightweight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5292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Pure Python async server that scales without expensive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Browser-Native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5292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No plugins or external apps — works in any modern browser instantly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85292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Zero-latency messaging with WebSockets, typing indicators and presence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85232"/>
            <a:ext cx="11109960" cy="1234440"/>
          </a:xfrm>
          <a:prstGeom prst="rect">
            <a:avLst/>
          </a:prstGeom>
          <a:solidFill>
            <a:srgbClr val="1A1F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6B6D4"/>
                </a:solidFill>
              </a:rPr>
              <a:t>"  Secure Chat is proof that strong privacy and great user experience are not opposites.
The future of communication belongs to those who build it with security first.  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28527" y="18288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18688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3101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4A3B8"/>
                </a:solidFill>
              </a:rPr>
              <a:t>for your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Questions? Feedback?
We'd love to hear from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PROJECT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37360"/>
            <a:ext cx="5212080" cy="36576"/>
          </a:xfrm>
          <a:prstGeom prst="rect">
            <a:avLst/>
          </a:prstGeom>
          <a:solidFill>
            <a:srgbClr val="1E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5212080" cy="749808"/>
          </a:xfrm>
          <a:prstGeom prst="rect">
            <a:avLst/>
          </a:prstGeom>
          <a:solidFill>
            <a:srgbClr val="1A1F3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85305" y="20299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Ilyas </a:t>
            </a:r>
            <a:r>
              <a:rPr sz="1600" b="1" i="0" dirty="0" err="1">
                <a:solidFill>
                  <a:srgbClr val="FFFFFF"/>
                </a:solidFill>
              </a:rPr>
              <a:t>Boufelss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0" y="2697480"/>
            <a:ext cx="5212080" cy="749808"/>
          </a:xfrm>
          <a:prstGeom prst="rect">
            <a:avLst/>
          </a:prstGeom>
          <a:solidFill>
            <a:srgbClr val="1A1F3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85305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Youssef Alaoui Hichami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566160"/>
            <a:ext cx="5212080" cy="749808"/>
          </a:xfrm>
          <a:prstGeom prst="rect">
            <a:avLst/>
          </a:prstGeom>
          <a:solidFill>
            <a:srgbClr val="1A1F3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85305" y="374190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</a:rPr>
              <a:t>Achraf</a:t>
            </a:r>
            <a:r>
              <a:rPr sz="1600" b="1" i="0" dirty="0">
                <a:solidFill>
                  <a:srgbClr val="FFFFFF"/>
                </a:solidFill>
              </a:rPr>
              <a:t> </a:t>
            </a:r>
            <a:r>
              <a:rPr sz="1600" b="1" i="0" dirty="0" err="1">
                <a:solidFill>
                  <a:srgbClr val="FFFFFF"/>
                </a:solidFill>
              </a:rPr>
              <a:t>Amarifi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4480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SUPERVISED BY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846320"/>
            <a:ext cx="5212080" cy="36576"/>
          </a:xfrm>
          <a:prstGeom prst="rect">
            <a:avLst/>
          </a:prstGeom>
          <a:solidFill>
            <a:srgbClr val="1E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0" y="4937760"/>
            <a:ext cx="5212080" cy="749808"/>
          </a:xfrm>
          <a:prstGeom prst="rect">
            <a:avLst/>
          </a:prstGeom>
          <a:solidFill>
            <a:srgbClr val="1A1F35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499262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Mr. Zineddine Mhamed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218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5CF6"/>
                </a:solidFill>
              </a:rPr>
              <a:t>Academic Supervisor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1655</Words>
  <Application>Microsoft Office PowerPoint</Application>
  <PresentationFormat>Personnalisé</PresentationFormat>
  <Paragraphs>339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Ily Bouf</cp:lastModifiedBy>
  <cp:revision>5</cp:revision>
  <dcterms:created xsi:type="dcterms:W3CDTF">2013-01-27T09:14:16Z</dcterms:created>
  <dcterms:modified xsi:type="dcterms:W3CDTF">2026-05-16T16:30:36Z</dcterms:modified>
  <cp:category/>
</cp:coreProperties>
</file>